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2" r:id="rId6"/>
    <p:sldId id="264" r:id="rId7"/>
    <p:sldId id="263" r:id="rId8"/>
  </p:sldIdLst>
  <p:sldSz cx="9144000" cy="5143500" type="screen16x9"/>
  <p:notesSz cx="6858000" cy="9144000"/>
  <p:embeddedFontLst>
    <p:embeddedFont>
      <p:font typeface="Kanit" panose="020B0604020202020204" charset="-34"/>
      <p:regular r:id="rId10"/>
      <p:bold r:id="rId11"/>
      <p:italic r:id="rId12"/>
      <p:boldItalic r:id="rId13"/>
    </p:embeddedFont>
    <p:embeddedFont>
      <p:font typeface="Kanit Light" panose="020B0604020202020204" charset="-34"/>
      <p:regular r:id="rId14"/>
      <p:bold r:id="rId15"/>
      <p:italic r:id="rId16"/>
      <p:boldItalic r:id="rId17"/>
    </p:embeddedFont>
    <p:embeddedFont>
      <p:font typeface="Orbitron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13313B-49A9-4A9C-A1C1-DCBAD4468537}">
  <a:tblStyle styleId="{4C13313B-49A9-4A9C-A1C1-DCBAD44685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874393-293E-44CF-AC26-3395088A6C8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85F68140-9753-C317-DC52-F618B71E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fb8bc67f7_0_0:notes">
            <a:extLst>
              <a:ext uri="{FF2B5EF4-FFF2-40B4-BE49-F238E27FC236}">
                <a16:creationId xmlns:a16="http://schemas.microsoft.com/office/drawing/2014/main" id="{AB597DDD-1339-EA49-BDBE-6E7E9A831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fb8bc67f7_0_0:notes">
            <a:extLst>
              <a:ext uri="{FF2B5EF4-FFF2-40B4-BE49-F238E27FC236}">
                <a16:creationId xmlns:a16="http://schemas.microsoft.com/office/drawing/2014/main" id="{D9B388BA-C868-D994-1B1E-BFF97E8684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296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8EC626D3-F39C-B9A1-1392-D5FB57F57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fb8bc67f7_0_0:notes">
            <a:extLst>
              <a:ext uri="{FF2B5EF4-FFF2-40B4-BE49-F238E27FC236}">
                <a16:creationId xmlns:a16="http://schemas.microsoft.com/office/drawing/2014/main" id="{0687B822-1D65-FBA2-D343-C08F50E73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fb8bc67f7_0_0:notes">
            <a:extLst>
              <a:ext uri="{FF2B5EF4-FFF2-40B4-BE49-F238E27FC236}">
                <a16:creationId xmlns:a16="http://schemas.microsoft.com/office/drawing/2014/main" id="{AD4172A7-6BAD-C52A-72C9-9B63FE25E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8056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5A4218C0-B4A4-C49F-93AC-26DAA271A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fb8bc67f7_0_0:notes">
            <a:extLst>
              <a:ext uri="{FF2B5EF4-FFF2-40B4-BE49-F238E27FC236}">
                <a16:creationId xmlns:a16="http://schemas.microsoft.com/office/drawing/2014/main" id="{668EA110-FC6C-1413-5CB6-09A903739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fb8bc67f7_0_0:notes">
            <a:extLst>
              <a:ext uri="{FF2B5EF4-FFF2-40B4-BE49-F238E27FC236}">
                <a16:creationId xmlns:a16="http://schemas.microsoft.com/office/drawing/2014/main" id="{629D0892-A761-68AC-8D8F-47CC42E6D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674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>
          <a:extLst>
            <a:ext uri="{FF2B5EF4-FFF2-40B4-BE49-F238E27FC236}">
              <a16:creationId xmlns:a16="http://schemas.microsoft.com/office/drawing/2014/main" id="{3CFDF7E8-23D6-0876-6BFA-3C456A8E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0fb8bc67f7_0_0:notes">
            <a:extLst>
              <a:ext uri="{FF2B5EF4-FFF2-40B4-BE49-F238E27FC236}">
                <a16:creationId xmlns:a16="http://schemas.microsoft.com/office/drawing/2014/main" id="{E9E4285B-5518-553A-0184-1464076BF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0fb8bc67f7_0_0:notes">
            <a:extLst>
              <a:ext uri="{FF2B5EF4-FFF2-40B4-BE49-F238E27FC236}">
                <a16:creationId xmlns:a16="http://schemas.microsoft.com/office/drawing/2014/main" id="{00768964-0054-E80C-F94D-9A2B6AC88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3314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654575" y="3450425"/>
            <a:ext cx="5682300" cy="4095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8657175" y="772575"/>
            <a:ext cx="74100" cy="1788450"/>
            <a:chOff x="8657175" y="772575"/>
            <a:chExt cx="74100" cy="1788450"/>
          </a:xfrm>
        </p:grpSpPr>
        <p:sp>
          <p:nvSpPr>
            <p:cNvPr id="14" name="Google Shape;14;p2"/>
            <p:cNvSpPr/>
            <p:nvPr/>
          </p:nvSpPr>
          <p:spPr>
            <a:xfrm>
              <a:off x="8657175" y="772575"/>
              <a:ext cx="74100" cy="1428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57175" y="2304150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57175" y="2483925"/>
              <a:ext cx="74100" cy="77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Kanit"/>
                  <a:ea typeface="Kanit"/>
                  <a:cs typeface="Kanit"/>
                  <a:sym typeface="Kanit"/>
                </a:rPr>
                <a:t>  </a:t>
              </a: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8809575" y="448502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657175" y="4637450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809575" y="4789875"/>
            <a:ext cx="74100" cy="7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Kanit"/>
              <a:ea typeface="Kanit"/>
              <a:cs typeface="Kanit"/>
              <a:sym typeface="Kanit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205650" y="308475"/>
            <a:ext cx="150300" cy="378950"/>
            <a:chOff x="205650" y="308475"/>
            <a:chExt cx="150300" cy="378950"/>
          </a:xfrm>
        </p:grpSpPr>
        <p:sp>
          <p:nvSpPr>
            <p:cNvPr id="21" name="Google Shape;21;p2"/>
            <p:cNvSpPr/>
            <p:nvPr/>
          </p:nvSpPr>
          <p:spPr>
            <a:xfrm>
              <a:off x="205650" y="30847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81850" y="460900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05650" y="613325"/>
              <a:ext cx="74100" cy="74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  <p:grpSp>
        <p:nvGrpSpPr>
          <p:cNvPr id="24" name="Google Shape;24;p2"/>
          <p:cNvGrpSpPr/>
          <p:nvPr/>
        </p:nvGrpSpPr>
        <p:grpSpPr>
          <a:xfrm>
            <a:off x="1085475" y="4711575"/>
            <a:ext cx="536998" cy="134100"/>
            <a:chOff x="1085475" y="4711575"/>
            <a:chExt cx="536998" cy="134100"/>
          </a:xfrm>
        </p:grpSpPr>
        <p:sp>
          <p:nvSpPr>
            <p:cNvPr id="25" name="Google Shape;25;p2"/>
            <p:cNvSpPr/>
            <p:nvPr/>
          </p:nvSpPr>
          <p:spPr>
            <a:xfrm>
              <a:off x="1085475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2197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354074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1488373" y="471157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4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pic>
        <p:nvPicPr>
          <p:cNvPr id="46" name="Google Shape;4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1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0675" y="-145538"/>
            <a:ext cx="9557898" cy="537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24639" y="-126362"/>
            <a:ext cx="9593277" cy="539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 rotWithShape="1">
          <a:blip r:embed="rId3">
            <a:alphaModFix amt="70000"/>
          </a:blip>
          <a:srcRect r="46170" b="42243"/>
          <a:stretch/>
        </p:blipFill>
        <p:spPr>
          <a:xfrm flipH="1">
            <a:off x="5856008" y="0"/>
            <a:ext cx="3287992" cy="198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rbitron"/>
              <a:buNone/>
              <a:defRPr sz="3000">
                <a:solidFill>
                  <a:schemeClr val="dk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●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○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Kanit Light"/>
              <a:buChar char="■"/>
              <a:defRPr sz="1200">
                <a:solidFill>
                  <a:schemeClr val="dk1"/>
                </a:solidFill>
                <a:latin typeface="Kanit Light"/>
                <a:ea typeface="Kanit Light"/>
                <a:cs typeface="Kanit Light"/>
                <a:sym typeface="Kanit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7" r:id="rId6"/>
    <p:sldLayoutId id="214748366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>
            <a:spLocks noGrp="1"/>
          </p:cNvSpPr>
          <p:nvPr>
            <p:ph type="ctrTitle"/>
          </p:nvPr>
        </p:nvSpPr>
        <p:spPr>
          <a:xfrm>
            <a:off x="1654450" y="1307025"/>
            <a:ext cx="5682300" cy="19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dirty="0"/>
              <a:t>Mystery Vault</a:t>
            </a:r>
            <a:r>
              <a:rPr lang="en" sz="7200" dirty="0"/>
              <a:t>    </a:t>
            </a:r>
            <a:endParaRPr sz="7200" dirty="0"/>
          </a:p>
        </p:txBody>
      </p:sp>
      <p:sp>
        <p:nvSpPr>
          <p:cNvPr id="200" name="Google Shape;200;p26"/>
          <p:cNvSpPr txBox="1">
            <a:spLocks noGrp="1"/>
          </p:cNvSpPr>
          <p:nvPr>
            <p:ph type="subTitle" idx="1"/>
          </p:nvPr>
        </p:nvSpPr>
        <p:spPr>
          <a:xfrm>
            <a:off x="1654575" y="3300825"/>
            <a:ext cx="6112198" cy="42106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IN" dirty="0">
                <a:solidFill>
                  <a:srgbClr val="F5F7FA"/>
                </a:solidFill>
              </a:rPr>
              <a:t>Investigate → Collect → Interrogate → Connect → Deduce → Solve</a:t>
            </a:r>
          </a:p>
        </p:txBody>
      </p:sp>
      <p:grpSp>
        <p:nvGrpSpPr>
          <p:cNvPr id="201" name="Google Shape;201;p26"/>
          <p:cNvGrpSpPr/>
          <p:nvPr/>
        </p:nvGrpSpPr>
        <p:grpSpPr>
          <a:xfrm>
            <a:off x="7229775" y="947625"/>
            <a:ext cx="536998" cy="134100"/>
            <a:chOff x="7229775" y="947625"/>
            <a:chExt cx="536998" cy="134100"/>
          </a:xfrm>
        </p:grpSpPr>
        <p:sp>
          <p:nvSpPr>
            <p:cNvPr id="202" name="Google Shape;202;p26"/>
            <p:cNvSpPr/>
            <p:nvPr/>
          </p:nvSpPr>
          <p:spPr>
            <a:xfrm>
              <a:off x="7229775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73640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7498374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7632673" y="947625"/>
              <a:ext cx="134100" cy="134100"/>
            </a:xfrm>
            <a:prstGeom prst="mathPlus">
              <a:avLst>
                <a:gd name="adj1" fmla="val 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Kanit"/>
                <a:ea typeface="Kanit"/>
                <a:cs typeface="Kanit"/>
                <a:sym typeface="Kani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Problem Statement</a:t>
            </a:r>
            <a:endParaRPr sz="4000" dirty="0"/>
          </a:p>
        </p:txBody>
      </p:sp>
      <p:sp>
        <p:nvSpPr>
          <p:cNvPr id="211" name="Google Shape;211;p27"/>
          <p:cNvSpPr txBox="1">
            <a:spLocks noGrp="1"/>
          </p:cNvSpPr>
          <p:nvPr>
            <p:ph type="body" idx="1"/>
          </p:nvPr>
        </p:nvSpPr>
        <p:spPr>
          <a:xfrm>
            <a:off x="798581" y="1462174"/>
            <a:ext cx="7704000" cy="3457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sz="2200" dirty="0"/>
              <a:t>In today's digital world, people are often exposed to misinformation, misleading statements, and incomplete information. There is a need for an engaging way to develop critical thinking and evidence-based reasoning.</a:t>
            </a:r>
          </a:p>
          <a:p>
            <a:pPr marL="0" lvl="0" indent="0">
              <a:buNone/>
            </a:pPr>
            <a:r>
              <a:rPr lang="en-IN" sz="2200" dirty="0"/>
              <a:t>Mystery Vault addresses this through an interactive investigation game where players analyse evidence, question information, identify contradictions, and make decisions based on facts.</a:t>
            </a:r>
            <a:endParaRPr lang="en-US" sz="2200" dirty="0"/>
          </a:p>
        </p:txBody>
      </p:sp>
      <p:pic>
        <p:nvPicPr>
          <p:cNvPr id="212" name="Google Shape;212;p27"/>
          <p:cNvPicPr preferRelativeResize="0"/>
          <p:nvPr/>
        </p:nvPicPr>
        <p:blipFill rotWithShape="1">
          <a:blip r:embed="rId3">
            <a:alphaModFix amt="60000"/>
          </a:blip>
          <a:srcRect l="38541" t="43940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C67F2110-799C-7F6B-97DA-D052B4E8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>
            <a:extLst>
              <a:ext uri="{FF2B5EF4-FFF2-40B4-BE49-F238E27FC236}">
                <a16:creationId xmlns:a16="http://schemas.microsoft.com/office/drawing/2014/main" id="{49F95BE0-F53A-3808-F36E-1799499A7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dirty="0"/>
              <a:t>Objective</a:t>
            </a:r>
            <a:endParaRPr sz="4000" dirty="0"/>
          </a:p>
        </p:txBody>
      </p:sp>
      <p:sp>
        <p:nvSpPr>
          <p:cNvPr id="211" name="Google Shape;211;p27">
            <a:extLst>
              <a:ext uri="{FF2B5EF4-FFF2-40B4-BE49-F238E27FC236}">
                <a16:creationId xmlns:a16="http://schemas.microsoft.com/office/drawing/2014/main" id="{B5169C8E-386E-0364-F557-66C5A8144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9582" y="1324606"/>
            <a:ext cx="7981088" cy="2964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200" dirty="0"/>
              <a:t>Develop an interactive mystery investigation game using Java. </a:t>
            </a:r>
          </a:p>
          <a:p>
            <a:pPr lvl="0"/>
            <a:r>
              <a:rPr lang="en-IN" sz="2200" dirty="0"/>
              <a:t>Allow players to investigate cases through clues, evidence and interrogations. </a:t>
            </a:r>
          </a:p>
          <a:p>
            <a:pPr lvl="0"/>
            <a:r>
              <a:rPr lang="en-IN" sz="2200" dirty="0" err="1"/>
              <a:t>Analyze</a:t>
            </a:r>
            <a:r>
              <a:rPr lang="en-IN" sz="2200" dirty="0"/>
              <a:t> relationships and contradictions using a </a:t>
            </a:r>
            <a:r>
              <a:rPr lang="en-IN" sz="2200" b="1" dirty="0"/>
              <a:t>Case Connection Engine</a:t>
            </a:r>
            <a:r>
              <a:rPr lang="en-IN" sz="2200" dirty="0"/>
              <a:t>. </a:t>
            </a:r>
          </a:p>
          <a:p>
            <a:pPr lvl="0"/>
            <a:r>
              <a:rPr lang="en-IN" sz="2200" dirty="0"/>
              <a:t>Evaluate the player's final deduction and generate a case report. </a:t>
            </a:r>
          </a:p>
          <a:p>
            <a:pPr lvl="0"/>
            <a:r>
              <a:rPr lang="en-IN" sz="2200" dirty="0"/>
              <a:t>Demonstrate Java concepts through a single integrated application.</a:t>
            </a:r>
          </a:p>
          <a:p>
            <a:pPr marL="0" lvl="0" indent="0">
              <a:buNone/>
            </a:pPr>
            <a:endParaRPr sz="2200" dirty="0"/>
          </a:p>
        </p:txBody>
      </p:sp>
      <p:pic>
        <p:nvPicPr>
          <p:cNvPr id="212" name="Google Shape;212;p27">
            <a:extLst>
              <a:ext uri="{FF2B5EF4-FFF2-40B4-BE49-F238E27FC236}">
                <a16:creationId xmlns:a16="http://schemas.microsoft.com/office/drawing/2014/main" id="{9DFE0149-8AAD-9A0F-3405-1611FFA997DC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 l="38541" t="43940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3536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0C214B15-C160-4316-B790-49D8B31A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>
            <a:extLst>
              <a:ext uri="{FF2B5EF4-FFF2-40B4-BE49-F238E27FC236}">
                <a16:creationId xmlns:a16="http://schemas.microsoft.com/office/drawing/2014/main" id="{52A5159C-463E-7D2D-9F15-439B7FE34A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4000" dirty="0"/>
              <a:t>Topics Used</a:t>
            </a:r>
            <a:endParaRPr sz="4000" dirty="0"/>
          </a:p>
        </p:txBody>
      </p:sp>
      <p:sp>
        <p:nvSpPr>
          <p:cNvPr id="211" name="Google Shape;211;p27">
            <a:extLst>
              <a:ext uri="{FF2B5EF4-FFF2-40B4-BE49-F238E27FC236}">
                <a16:creationId xmlns:a16="http://schemas.microsoft.com/office/drawing/2014/main" id="{CA12B67A-CF86-A3D1-57BC-784F3E72C5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9582" y="1515375"/>
            <a:ext cx="7981088" cy="31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800" b="1" dirty="0"/>
              <a:t>OOP:</a:t>
            </a:r>
            <a:r>
              <a:rPr lang="en-IN" sz="1800" dirty="0"/>
              <a:t> Classes, Objects, Encapsulation, Inheritance, Polymorphism, Abstract Classes, Interfaces </a:t>
            </a:r>
          </a:p>
          <a:p>
            <a:pPr lvl="0"/>
            <a:r>
              <a:rPr lang="en-IN" sz="1800" b="1" dirty="0"/>
              <a:t>Core Java:</a:t>
            </a:r>
            <a:r>
              <a:rPr lang="en-IN" sz="1800" dirty="0"/>
              <a:t> Strings, Date/Time API, Packages, static, final, this </a:t>
            </a:r>
          </a:p>
          <a:p>
            <a:pPr lvl="0"/>
            <a:r>
              <a:rPr lang="en-IN" sz="1800" b="1" dirty="0"/>
              <a:t>Advanced Java:</a:t>
            </a:r>
            <a:r>
              <a:rPr lang="en-IN" sz="1800" dirty="0"/>
              <a:t> Exceptions, Custom Exceptions, Assertions, Multithreading, Synchronization </a:t>
            </a:r>
          </a:p>
          <a:p>
            <a:pPr lvl="0"/>
            <a:r>
              <a:rPr lang="en-IN" sz="1800" b="1" dirty="0"/>
              <a:t>Collections:</a:t>
            </a:r>
            <a:r>
              <a:rPr lang="en-IN" sz="1800" dirty="0"/>
              <a:t> List, Set, Map, Generics, Lambda Expressions, Streams </a:t>
            </a:r>
          </a:p>
          <a:p>
            <a:pPr lvl="0"/>
            <a:r>
              <a:rPr lang="en-IN" sz="1800" b="1" dirty="0"/>
              <a:t>File Handling:</a:t>
            </a:r>
            <a:r>
              <a:rPr lang="en-IN" sz="1800" dirty="0"/>
              <a:t> File Streams, Random Access, Serialization, Regex </a:t>
            </a:r>
          </a:p>
          <a:p>
            <a:pPr lvl="0"/>
            <a:r>
              <a:rPr lang="en-IN" sz="1800" b="1" dirty="0"/>
              <a:t>Database:</a:t>
            </a:r>
            <a:r>
              <a:rPr lang="en-IN" sz="1800" dirty="0"/>
              <a:t> JDBC, SQL, Prepared Statement, Result Set </a:t>
            </a:r>
          </a:p>
          <a:p>
            <a:pPr lvl="0"/>
            <a:r>
              <a:rPr lang="en-IN" sz="1800" b="1" dirty="0"/>
              <a:t>GUI &amp; Web:</a:t>
            </a:r>
            <a:r>
              <a:rPr lang="en-IN" sz="1800" dirty="0"/>
              <a:t> Swing/AWT, Event Handling, Servlets, Spring Boot</a:t>
            </a:r>
          </a:p>
          <a:p>
            <a:pPr marL="0" lvl="0" indent="0">
              <a:buNone/>
            </a:pPr>
            <a:endParaRPr sz="1800" dirty="0"/>
          </a:p>
        </p:txBody>
      </p:sp>
      <p:pic>
        <p:nvPicPr>
          <p:cNvPr id="212" name="Google Shape;212;p27">
            <a:extLst>
              <a:ext uri="{FF2B5EF4-FFF2-40B4-BE49-F238E27FC236}">
                <a16:creationId xmlns:a16="http://schemas.microsoft.com/office/drawing/2014/main" id="{33BC2056-2B43-670F-79B4-1D2529E4378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 l="38541" t="43940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326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46D1644B-5440-1E38-6E73-27C6534E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>
            <a:extLst>
              <a:ext uri="{FF2B5EF4-FFF2-40B4-BE49-F238E27FC236}">
                <a16:creationId xmlns:a16="http://schemas.microsoft.com/office/drawing/2014/main" id="{77961125-C3C5-438A-256A-52EB6C7791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3600" dirty="0"/>
              <a:t>Database Tables</a:t>
            </a:r>
            <a:endParaRPr sz="3600" dirty="0"/>
          </a:p>
        </p:txBody>
      </p:sp>
      <p:pic>
        <p:nvPicPr>
          <p:cNvPr id="212" name="Google Shape;212;p27">
            <a:extLst>
              <a:ext uri="{FF2B5EF4-FFF2-40B4-BE49-F238E27FC236}">
                <a16:creationId xmlns:a16="http://schemas.microsoft.com/office/drawing/2014/main" id="{F8391F70-1A31-8260-E346-D7F888B13821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 l="38541" t="43940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74C83E-F55E-8CF8-540E-05120FCAC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318036"/>
              </p:ext>
            </p:extLst>
          </p:nvPr>
        </p:nvGraphicFramePr>
        <p:xfrm>
          <a:off x="876483" y="1227804"/>
          <a:ext cx="7391034" cy="3341018"/>
        </p:xfrm>
        <a:graphic>
          <a:graphicData uri="http://schemas.openxmlformats.org/drawingml/2006/table">
            <a:tbl>
              <a:tblPr>
                <a:tableStyleId>{4C13313B-49A9-4A9C-A1C1-DCBAD4468537}</a:tableStyleId>
              </a:tblPr>
              <a:tblGrid>
                <a:gridCol w="3695517">
                  <a:extLst>
                    <a:ext uri="{9D8B030D-6E8A-4147-A177-3AD203B41FA5}">
                      <a16:colId xmlns:a16="http://schemas.microsoft.com/office/drawing/2014/main" val="2489007166"/>
                    </a:ext>
                  </a:extLst>
                </a:gridCol>
                <a:gridCol w="3695517">
                  <a:extLst>
                    <a:ext uri="{9D8B030D-6E8A-4147-A177-3AD203B41FA5}">
                      <a16:colId xmlns:a16="http://schemas.microsoft.com/office/drawing/2014/main" val="2517768332"/>
                    </a:ext>
                  </a:extLst>
                </a:gridCol>
              </a:tblGrid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Table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Purpose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1371275238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PLAYER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Player profile, rank &amp; score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1796385885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CASE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Case details &amp; status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1934686524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SUSPECT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Suspect information &amp; alibis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2693728867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EVIDENCE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Evidence collected during investigation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4057989257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CLUE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Discovered clues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1028013823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STATEMENT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Suspect/interrogation statements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108603267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TIMELINE_EVENT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Events with date &amp; time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1096390945"/>
                  </a:ext>
                </a:extLst>
              </a:tr>
              <a:tr h="460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CASE_CONNECTION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Relationships between clues, suspects &amp; evidence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2370359444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INVESTIGATION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Player's investigation progress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4197628871"/>
                  </a:ext>
                </a:extLst>
              </a:tr>
              <a:tr h="2708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SCORE</a:t>
                      </a:r>
                    </a:p>
                  </a:txBody>
                  <a:tcPr marL="87597" marR="87597" marT="43799" marB="4379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chemeClr val="tx1"/>
                          </a:solidFill>
                          <a:latin typeface="Kanit Light" panose="020B0604020202020204" charset="-34"/>
                          <a:cs typeface="Kanit Light" panose="020B0604020202020204" charset="-34"/>
                        </a:rPr>
                        <a:t>Final score &amp; deduction result</a:t>
                      </a:r>
                    </a:p>
                  </a:txBody>
                  <a:tcPr marL="87597" marR="87597" marT="43799" marB="43799" anchor="ctr"/>
                </a:tc>
                <a:extLst>
                  <a:ext uri="{0D108BD9-81ED-4DB2-BD59-A6C34878D82A}">
                    <a16:rowId xmlns:a16="http://schemas.microsoft.com/office/drawing/2014/main" val="3458834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56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>
          <a:extLst>
            <a:ext uri="{FF2B5EF4-FFF2-40B4-BE49-F238E27FC236}">
              <a16:creationId xmlns:a16="http://schemas.microsoft.com/office/drawing/2014/main" id="{ACD8079F-4B0A-F4FD-E26E-FE64D24D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7">
            <a:extLst>
              <a:ext uri="{FF2B5EF4-FFF2-40B4-BE49-F238E27FC236}">
                <a16:creationId xmlns:a16="http://schemas.microsoft.com/office/drawing/2014/main" id="{57CF6F88-418D-4E92-AB7E-48C36DCF3104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 l="38541" t="43940"/>
          <a:stretch/>
        </p:blipFill>
        <p:spPr>
          <a:xfrm flipH="1">
            <a:off x="0" y="2807025"/>
            <a:ext cx="4553876" cy="233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DFE819-920E-7D98-C87F-630CDD250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2564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4EB5BE6-7433-991B-8111-4B200035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859"/>
            <a:ext cx="7704000" cy="391019"/>
          </a:xfrm>
        </p:spPr>
        <p:txBody>
          <a:bodyPr/>
          <a:lstStyle/>
          <a:p>
            <a:r>
              <a:rPr lang="en-IN"/>
              <a:t>              APP WIREFRAME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637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BC7CC3-A1F6-96E8-31F6-391C87BE15AC}"/>
              </a:ext>
            </a:extLst>
          </p:cNvPr>
          <p:cNvSpPr txBox="1"/>
          <p:nvPr/>
        </p:nvSpPr>
        <p:spPr>
          <a:xfrm>
            <a:off x="1489472" y="1663869"/>
            <a:ext cx="47934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chemeClr val="tx1"/>
                </a:solidFill>
                <a:latin typeface="Orbitron" panose="020B0604020202020204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CF1B9-1A00-2A45-ADCB-8113EE8E6701}"/>
              </a:ext>
            </a:extLst>
          </p:cNvPr>
          <p:cNvSpPr txBox="1"/>
          <p:nvPr/>
        </p:nvSpPr>
        <p:spPr>
          <a:xfrm>
            <a:off x="4114801" y="3171825"/>
            <a:ext cx="40076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By Mystery Finders</a:t>
            </a:r>
          </a:p>
          <a:p>
            <a:endParaRPr lang="en-IN" dirty="0">
              <a:solidFill>
                <a:schemeClr val="tx1"/>
              </a:solidFill>
              <a:latin typeface="Kanit Light" panose="020B0604020202020204" charset="-34"/>
              <a:cs typeface="Kanit Light" panose="020B0604020202020204" charset="-34"/>
            </a:endParaRPr>
          </a:p>
          <a:p>
            <a:pPr marL="342900" indent="-342900">
              <a:buClr>
                <a:schemeClr val="tx1"/>
              </a:buClr>
              <a:buAutoNum type="arabicPeriod"/>
            </a:pPr>
            <a:r>
              <a:rPr lang="en-IN" dirty="0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Gopika M 		: 2025503050</a:t>
            </a:r>
          </a:p>
          <a:p>
            <a:pPr marL="342900" indent="-342900">
              <a:buClr>
                <a:schemeClr val="tx1"/>
              </a:buClr>
              <a:buAutoNum type="arabicPeriod"/>
            </a:pPr>
            <a:r>
              <a:rPr lang="en-IN" dirty="0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Priyanka M 		: 2025503044</a:t>
            </a:r>
          </a:p>
          <a:p>
            <a:pPr marL="342900" indent="-342900">
              <a:buClr>
                <a:schemeClr val="tx1"/>
              </a:buClr>
              <a:buAutoNum type="arabicPeriod"/>
            </a:pPr>
            <a:r>
              <a:rPr lang="en-IN" dirty="0" err="1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Srivarsha</a:t>
            </a:r>
            <a:r>
              <a:rPr lang="en-IN" dirty="0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 D M 		: 2025503558</a:t>
            </a:r>
          </a:p>
          <a:p>
            <a:pPr marL="342900" indent="-342900">
              <a:buClr>
                <a:schemeClr val="tx1"/>
              </a:buClr>
              <a:buAutoNum type="arabicPeriod"/>
            </a:pPr>
            <a:r>
              <a:rPr lang="en-IN" dirty="0">
                <a:solidFill>
                  <a:schemeClr val="tx1"/>
                </a:solidFill>
                <a:latin typeface="Kanit Light" panose="020B0604020202020204" charset="-34"/>
                <a:cs typeface="Kanit Light" panose="020B0604020202020204" charset="-34"/>
              </a:rPr>
              <a:t>Tharnikaa Balakrishnan	: 2025503598</a:t>
            </a:r>
          </a:p>
        </p:txBody>
      </p:sp>
    </p:spTree>
    <p:extLst>
      <p:ext uri="{BB962C8B-B14F-4D97-AF65-F5344CB8AC3E}">
        <p14:creationId xmlns:p14="http://schemas.microsoft.com/office/powerpoint/2010/main" val="892725886"/>
      </p:ext>
    </p:extLst>
  </p:cSld>
  <p:clrMapOvr>
    <a:masterClrMapping/>
  </p:clrMapOvr>
</p:sld>
</file>

<file path=ppt/theme/theme1.xml><?xml version="1.0" encoding="utf-8"?>
<a:theme xmlns:a="http://schemas.openxmlformats.org/drawingml/2006/main" name="Game Design Agency by Slidesgo">
  <a:themeElements>
    <a:clrScheme name="Simple Light">
      <a:dk1>
        <a:srgbClr val="FFFFFF"/>
      </a:dk1>
      <a:lt1>
        <a:srgbClr val="000000"/>
      </a:lt1>
      <a:dk2>
        <a:srgbClr val="DD3D6E"/>
      </a:dk2>
      <a:lt2>
        <a:srgbClr val="6ABFD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323</Words>
  <Application>Microsoft Office PowerPoint</Application>
  <PresentationFormat>On-screen Show (16:9)</PresentationFormat>
  <Paragraphs>50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Orbitron</vt:lpstr>
      <vt:lpstr>Kanit</vt:lpstr>
      <vt:lpstr>Arial</vt:lpstr>
      <vt:lpstr>Kanit Light</vt:lpstr>
      <vt:lpstr>Game Design Agency by Slidesgo</vt:lpstr>
      <vt:lpstr>Mystery Vault    </vt:lpstr>
      <vt:lpstr>Problem Statement</vt:lpstr>
      <vt:lpstr>Objective</vt:lpstr>
      <vt:lpstr>Topics Used</vt:lpstr>
      <vt:lpstr>Database Tables</vt:lpstr>
      <vt:lpstr>              APP WIREFRAME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Tharnikaa</dc:creator>
  <cp:lastModifiedBy>Varsha D</cp:lastModifiedBy>
  <cp:revision>5</cp:revision>
  <dcterms:modified xsi:type="dcterms:W3CDTF">2026-10-26T14:57:41Z</dcterms:modified>
</cp:coreProperties>
</file>